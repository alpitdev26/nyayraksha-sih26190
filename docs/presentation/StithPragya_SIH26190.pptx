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044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hehindu.com/news/national/criminal-justice-systems-digital-push-aims-for-a-full-roll-out-by-next-year/article71166359.ece" TargetMode="External"/><Relationship Id="rId3" Type="http://schemas.openxmlformats.org/officeDocument/2006/relationships/hyperlink" Target="https://www.mha.gov.in/en/commoncontent/icjsncrb-administration" TargetMode="External"/><Relationship Id="rId7" Type="http://schemas.openxmlformats.org/officeDocument/2006/relationships/hyperlink" Target="https://www.telegraphindia.com/india/cag-finds-major-loopholes-in-cctns-implementation-missing-child-complaints-unregistered-prnt/cid/2125056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lockchain.gov.in/Home/Product?product=JudiciaryChain" TargetMode="External"/><Relationship Id="rId5" Type="http://schemas.openxmlformats.org/officeDocument/2006/relationships/hyperlink" Target="https://www.pib.gov.in/PressReleasePage.aspx?PRID=2182023" TargetMode="External"/><Relationship Id="rId4" Type="http://schemas.openxmlformats.org/officeDocument/2006/relationships/hyperlink" Target="https://www.pib.gov.in/PressReleasePage.aspx?PRID=2226442" TargetMode="Externa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940616" y="2025702"/>
            <a:ext cx="3203509" cy="3426237"/>
          </a:xfrm>
          <a:prstGeom prst="rect">
            <a:avLst/>
          </a:prstGeom>
        </p:spPr>
      </p:pic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718" y="1403598"/>
            <a:ext cx="11422564" cy="4409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SIH26190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Secure Digital Document Management System for Legal and Investigation Documents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&amp;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:- StithPragya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599" y="29430"/>
            <a:ext cx="10972800" cy="503238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Secure Legal Vault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3" y="146911"/>
            <a:ext cx="1463040" cy="5859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50" b="1" dirty="0">
                <a:latin typeface="Arial" panose="020B0604020202020204" pitchFamily="34" charset="0"/>
                <a:cs typeface="Arial" panose="020B0604020202020204" pitchFamily="34" charset="0"/>
              </a:rPr>
              <a:t>StithPragya</a:t>
            </a:r>
            <a:endParaRPr lang="en-IN" sz="115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759CA9-D919-F09C-3152-8F56CACA563D}"/>
              </a:ext>
            </a:extLst>
          </p:cNvPr>
          <p:cNvSpPr txBox="1"/>
          <p:nvPr/>
        </p:nvSpPr>
        <p:spPr>
          <a:xfrm>
            <a:off x="249449" y="718116"/>
            <a:ext cx="6665701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</a:p>
          <a:p>
            <a:pPr lvl="1" algn="just">
              <a:spcAft>
                <a:spcPts val="600"/>
              </a:spcAft>
            </a:pPr>
            <a:r>
              <a:rPr lang="en-IN" sz="1600" b="1" dirty="0">
                <a:latin typeface="Kokila" panose="020B0604020202020204" pitchFamily="34" charset="0"/>
                <a:cs typeface="Kokila" panose="020B0604020202020204" pitchFamily="34" charset="0"/>
              </a:rPr>
              <a:t>A secure, AI-powered middleware that connects police fieldwork to India’s justice system—using blockchain for tamper-proof records, smart document processing, and offline mobile sync to keep every case file accurate, fast, and court-ready.</a:t>
            </a:r>
          </a:p>
          <a:p>
            <a:pPr marL="742950" lvl="1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1600" b="1" dirty="0">
                <a:latin typeface="Kokila" panose="020B0604020202020204" pitchFamily="34" charset="0"/>
                <a:ea typeface="Tahoma" panose="020B0604030504040204" pitchFamily="34" charset="0"/>
                <a:cs typeface="Kokila" panose="020B0604020202020204" pitchFamily="34" charset="0"/>
              </a:rPr>
              <a:t>Zero-Trust Hashing:</a:t>
            </a:r>
            <a:r>
              <a:rPr lang="en-IN" sz="1600" dirty="0">
                <a:latin typeface="Kokila" panose="020B0604020202020204" pitchFamily="34" charset="0"/>
                <a:ea typeface="Tahoma" panose="020B0604030504040204" pitchFamily="34" charset="0"/>
                <a:cs typeface="Kokila" panose="020B0604020202020204" pitchFamily="34" charset="0"/>
              </a:rPr>
              <a:t> Cryptographically locks every document (FIR, case diary, charge sheet) the moment it’s created—no backdating or tampering.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Kokila" panose="020B0604020202020204" pitchFamily="34" charset="0"/>
                <a:ea typeface="Tahoma" panose="020B0604030504040204" pitchFamily="34" charset="0"/>
                <a:cs typeface="Kokila" panose="020B0604020202020204" pitchFamily="34" charset="0"/>
              </a:rPr>
              <a:t>AI Document Intelligence:</a:t>
            </a:r>
            <a:r>
              <a:rPr lang="en-IN" sz="1600" dirty="0">
                <a:latin typeface="Kokila" panose="020B0604020202020204" pitchFamily="34" charset="0"/>
                <a:ea typeface="Tahoma" panose="020B0604030504040204" pitchFamily="34" charset="0"/>
                <a:cs typeface="Kokila" panose="020B0604020202020204" pitchFamily="34" charset="0"/>
              </a:rPr>
              <a:t> Auto-reads handwritten and printed text, extracts key case details, and flags contradictions across witness statements.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Kokila" panose="020B0604020202020204" pitchFamily="34" charset="0"/>
                <a:ea typeface="Tahoma" panose="020B0604030504040204" pitchFamily="34" charset="0"/>
                <a:cs typeface="Kokila" panose="020B0604020202020204" pitchFamily="34" charset="0"/>
              </a:rPr>
              <a:t>Strict Access Control:</a:t>
            </a:r>
            <a:r>
              <a:rPr lang="en-IN" sz="1600" dirty="0">
                <a:latin typeface="Kokila" panose="020B0604020202020204" pitchFamily="34" charset="0"/>
                <a:ea typeface="Tahoma" panose="020B0604030504040204" pitchFamily="34" charset="0"/>
                <a:cs typeface="Kokila" panose="020B0604020202020204" pitchFamily="34" charset="0"/>
              </a:rPr>
              <a:t> Only authorized IOs and judges can access classified files, enforced by biometrics and role-based permissions.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Kokila" panose="020B0604020202020204" pitchFamily="34" charset="0"/>
                <a:ea typeface="Tahoma" panose="020B0604030504040204" pitchFamily="34" charset="0"/>
                <a:cs typeface="Kokila" panose="020B0604020202020204" pitchFamily="34" charset="0"/>
              </a:rPr>
              <a:t>Auto Sync with e-Courts:</a:t>
            </a:r>
            <a:r>
              <a:rPr lang="en-IN" sz="1600" dirty="0">
                <a:latin typeface="Kokila" panose="020B0604020202020204" pitchFamily="34" charset="0"/>
                <a:ea typeface="Tahoma" panose="020B0604030504040204" pitchFamily="34" charset="0"/>
                <a:cs typeface="Kokila" panose="020B0604020202020204" pitchFamily="34" charset="0"/>
              </a:rPr>
              <a:t> Securely pushes finalized charge sheets directly to the e-Courts system as soon as they’re approved.</a:t>
            </a:r>
          </a:p>
          <a:p>
            <a:pPr marL="285750" lvl="0" indent="-285750" algn="just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 Special Points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1600" b="1" dirty="0">
                <a:latin typeface="Kokila" panose="020B0604020202020204" pitchFamily="34" charset="0"/>
                <a:cs typeface="Kokila" panose="020B0604020202020204" pitchFamily="34" charset="0"/>
              </a:rPr>
              <a:t>Offline-First Field Sync: </a:t>
            </a:r>
            <a:r>
              <a:rPr lang="en-US" sz="1600" dirty="0">
                <a:latin typeface="Kokila" panose="020B0604020202020204" pitchFamily="34" charset="0"/>
                <a:cs typeface="Kokila" panose="020B0604020202020204" pitchFamily="34" charset="0"/>
              </a:rPr>
              <a:t>Officers can record testimonies and sign search memos anywhere—even without internet—and sync automatically when back online.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1600" b="1" dirty="0">
                <a:latin typeface="Kokila" panose="020B0604020202020204" pitchFamily="34" charset="0"/>
                <a:cs typeface="Kokila" panose="020B0604020202020204" pitchFamily="34" charset="0"/>
              </a:rPr>
              <a:t>Smart Evidence Lockers: </a:t>
            </a:r>
            <a:r>
              <a:rPr lang="en-US" sz="1600" dirty="0">
                <a:latin typeface="Kokila" panose="020B0604020202020204" pitchFamily="34" charset="0"/>
                <a:cs typeface="Kokila" panose="020B0604020202020204" pitchFamily="34" charset="0"/>
              </a:rPr>
              <a:t>Physical evidence (weapons, narcotics) is linked to digital records via QR codes and smart locks that only open with verified, tamper-proof authorization</a:t>
            </a:r>
            <a:r>
              <a:rPr lang="en-US" sz="1600" b="1" dirty="0">
                <a:latin typeface="Kokila" panose="020B0604020202020204" pitchFamily="34" charset="0"/>
                <a:cs typeface="Kokila" panose="020B0604020202020204" pitchFamily="34" charset="0"/>
              </a:rPr>
              <a:t>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1600" b="1" dirty="0">
                <a:latin typeface="Kokila" panose="020B0604020202020204" pitchFamily="34" charset="0"/>
                <a:cs typeface="Kokila" panose="020B0604020202020204" pitchFamily="34" charset="0"/>
              </a:rPr>
              <a:t>Private Case Tracker: </a:t>
            </a:r>
            <a:r>
              <a:rPr lang="en-US" sz="1600" dirty="0">
                <a:latin typeface="Kokila" panose="020B0604020202020204" pitchFamily="34" charset="0"/>
                <a:cs typeface="Kokila" panose="020B0604020202020204" pitchFamily="34" charset="0"/>
              </a:rPr>
              <a:t>Victims can check case progress through a secure tracker that shows milestones without revealing any sensitive investigation details.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1600" b="1" dirty="0">
                <a:latin typeface="Kokila" panose="020B0604020202020204" pitchFamily="34" charset="0"/>
                <a:cs typeface="Kokila" panose="020B0604020202020204" pitchFamily="34" charset="0"/>
              </a:rPr>
              <a:t>Instant Digital Verification: </a:t>
            </a:r>
            <a:r>
              <a:rPr lang="en-US" sz="1600" dirty="0">
                <a:latin typeface="Kokila" panose="020B0604020202020204" pitchFamily="34" charset="0"/>
                <a:cs typeface="Kokila" panose="020B0604020202020204" pitchFamily="34" charset="0"/>
              </a:rPr>
              <a:t>Citizens receive official background certificates directly in their </a:t>
            </a:r>
            <a:r>
              <a:rPr lang="en-US" sz="1600" dirty="0" err="1">
                <a:latin typeface="Kokila" panose="020B0604020202020204" pitchFamily="34" charset="0"/>
                <a:cs typeface="Kokila" panose="020B0604020202020204" pitchFamily="34" charset="0"/>
              </a:rPr>
              <a:t>DigiLocker</a:t>
            </a:r>
            <a:r>
              <a:rPr lang="en-US" sz="1600" dirty="0">
                <a:latin typeface="Kokila" panose="020B0604020202020204" pitchFamily="34" charset="0"/>
                <a:cs typeface="Kokila" panose="020B0604020202020204" pitchFamily="34" charset="0"/>
              </a:rPr>
              <a:t>—no paper forms, no delays.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0DD3FE-4A8A-97AD-C8D9-A3C5A5C9E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011" y="907539"/>
            <a:ext cx="3429000" cy="51435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06E139-F479-C3F4-4E44-A762B0751E7C}"/>
              </a:ext>
            </a:extLst>
          </p:cNvPr>
          <p:cNvCxnSpPr/>
          <p:nvPr/>
        </p:nvCxnSpPr>
        <p:spPr>
          <a:xfrm>
            <a:off x="7124700" y="647700"/>
            <a:ext cx="0" cy="55721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89EB8F0-125D-61FC-6A4F-CB03EDEC36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3" y="137946"/>
            <a:ext cx="1463040" cy="5859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50" b="1" dirty="0">
                <a:latin typeface="Arial" panose="020B0604020202020204" pitchFamily="34" charset="0"/>
                <a:cs typeface="Arial" panose="020B0604020202020204" pitchFamily="34" charset="0"/>
              </a:rPr>
              <a:t>StithPragya</a:t>
            </a:r>
            <a:endParaRPr lang="en-IN" sz="11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6F2D0F-E179-F80B-27C1-F45BAA287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76835"/>
            <a:ext cx="2276481" cy="55043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3DD1264-D7F4-C648-471B-BCCA33666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7176" y="1112962"/>
            <a:ext cx="3334871" cy="500230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5A5B3A1-6220-84E5-EE03-FB439EE98BF4}"/>
              </a:ext>
            </a:extLst>
          </p:cNvPr>
          <p:cNvSpPr txBox="1"/>
          <p:nvPr/>
        </p:nvSpPr>
        <p:spPr>
          <a:xfrm>
            <a:off x="3168159" y="1112962"/>
            <a:ext cx="4513757" cy="508600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IN" sz="1200" b="1" dirty="0"/>
              <a:t>Frontend</a:t>
            </a:r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Web:</a:t>
            </a:r>
            <a:r>
              <a:rPr lang="en-IN" sz="1200" dirty="0"/>
              <a:t> React.js + Material UI</a:t>
            </a:r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Mobile:</a:t>
            </a:r>
            <a:r>
              <a:rPr lang="en-IN" sz="1200" dirty="0"/>
              <a:t> React Native / Flutter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IN" sz="1200" b="1" dirty="0"/>
              <a:t>Backend</a:t>
            </a:r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API:</a:t>
            </a:r>
            <a:r>
              <a:rPr lang="en-IN" sz="1200" dirty="0"/>
              <a:t> Node.js (Express/</a:t>
            </a:r>
            <a:r>
              <a:rPr lang="en-IN" sz="1200" dirty="0" err="1"/>
              <a:t>NestJS</a:t>
            </a:r>
            <a:r>
              <a:rPr lang="en-IN" sz="1200" dirty="0"/>
              <a:t>) or Python (</a:t>
            </a:r>
            <a:r>
              <a:rPr lang="en-IN" sz="1200" dirty="0" err="1"/>
              <a:t>FastAPI</a:t>
            </a:r>
            <a:r>
              <a:rPr lang="en-IN" sz="1200" dirty="0"/>
              <a:t>)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IN" sz="1200" b="1" dirty="0"/>
              <a:t>Databases</a:t>
            </a:r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Primary:</a:t>
            </a:r>
            <a:r>
              <a:rPr lang="en-IN" sz="1200" dirty="0"/>
              <a:t> PostgreSQL</a:t>
            </a:r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Graph (optional):</a:t>
            </a:r>
            <a:r>
              <a:rPr lang="en-IN" sz="1200" dirty="0"/>
              <a:t> Neo4j</a:t>
            </a:r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Offline (</a:t>
            </a:r>
            <a:r>
              <a:rPr lang="en-IN" sz="1400" b="1" dirty="0"/>
              <a:t>mobile</a:t>
            </a:r>
            <a:r>
              <a:rPr lang="en-IN" sz="1200" b="1" dirty="0"/>
              <a:t>):</a:t>
            </a:r>
            <a:r>
              <a:rPr lang="en-IN" sz="1200" dirty="0"/>
              <a:t> SQLite (encrypted)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IN" sz="1200" b="1" dirty="0"/>
              <a:t>Security</a:t>
            </a:r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Auth:</a:t>
            </a:r>
            <a:r>
              <a:rPr lang="en-IN" sz="1200" dirty="0"/>
              <a:t> JWT + OTP (MFA)</a:t>
            </a:r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Encryption:</a:t>
            </a:r>
            <a:r>
              <a:rPr lang="en-IN" sz="1200" dirty="0"/>
              <a:t> AES-256 (data at rest), TLS 1.3 (in transit)</a:t>
            </a:r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Hashing:</a:t>
            </a:r>
            <a:r>
              <a:rPr lang="en-IN" sz="1200" dirty="0"/>
              <a:t> SHA-256</a:t>
            </a:r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Signatures:</a:t>
            </a:r>
            <a:r>
              <a:rPr lang="en-IN" sz="1200" dirty="0"/>
              <a:t> Ed25519 / RSA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IN" sz="1200" b="1" dirty="0"/>
              <a:t>AI / OCR</a:t>
            </a:r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OCR:</a:t>
            </a:r>
            <a:r>
              <a:rPr lang="en-IN" sz="1200" dirty="0"/>
              <a:t> Tesseract / </a:t>
            </a:r>
            <a:r>
              <a:rPr lang="en-IN" sz="1200" dirty="0" err="1"/>
              <a:t>EasyOCR</a:t>
            </a:r>
            <a:endParaRPr lang="en-IN" sz="1200" dirty="0"/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NLP:</a:t>
            </a:r>
            <a:r>
              <a:rPr lang="en-IN" sz="1200" dirty="0"/>
              <a:t> </a:t>
            </a:r>
            <a:r>
              <a:rPr lang="en-IN" sz="1200" dirty="0" err="1"/>
              <a:t>IndicBERT</a:t>
            </a:r>
            <a:r>
              <a:rPr lang="en-IN" sz="1200" dirty="0"/>
              <a:t> / AI4Bharat models (for Indian languages)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IN" sz="1200" b="1" dirty="0"/>
              <a:t>Integration</a:t>
            </a:r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APIs:</a:t>
            </a:r>
            <a:r>
              <a:rPr lang="en-IN" sz="1200" dirty="0"/>
              <a:t> REST / </a:t>
            </a:r>
            <a:r>
              <a:rPr lang="en-IN" sz="1200" dirty="0" err="1"/>
              <a:t>GraphQL</a:t>
            </a:r>
            <a:endParaRPr lang="en-IN" sz="1200" dirty="0"/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Gateway:</a:t>
            </a:r>
            <a:r>
              <a:rPr lang="en-IN" sz="1200" dirty="0"/>
              <a:t> Kong / AWS API Gateway</a:t>
            </a:r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Queue:</a:t>
            </a:r>
            <a:r>
              <a:rPr lang="en-IN" sz="1200" dirty="0"/>
              <a:t> Kafka / RabbitMQ (for OCR, notifications)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IN" sz="1200" b="1" dirty="0"/>
              <a:t>DevOps</a:t>
            </a:r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Containers:</a:t>
            </a:r>
            <a:r>
              <a:rPr lang="en-IN" sz="1200" dirty="0"/>
              <a:t> Docker</a:t>
            </a:r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Orchestration:</a:t>
            </a:r>
            <a:r>
              <a:rPr lang="en-IN" sz="1200" dirty="0"/>
              <a:t> Kubernetes (optional for pilot)</a:t>
            </a:r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CI/CD:</a:t>
            </a:r>
            <a:r>
              <a:rPr lang="en-IN" sz="1200" dirty="0"/>
              <a:t> GitHub Actions</a:t>
            </a:r>
          </a:p>
          <a:p>
            <a:pPr marL="628650" lvl="1" indent="-171450" algn="just">
              <a:buFont typeface="Wingdings" panose="05000000000000000000" pitchFamily="2" charset="2"/>
              <a:buChar char="§"/>
            </a:pPr>
            <a:r>
              <a:rPr lang="en-IN" sz="1200" b="1" dirty="0"/>
              <a:t>Cloud:</a:t>
            </a:r>
            <a:r>
              <a:rPr lang="en-IN" sz="1200" dirty="0"/>
              <a:t> AWS / Azure / GCP or Govt 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D6C08E-5FEC-C44D-B9B6-A7A0001FCC92}"/>
              </a:ext>
            </a:extLst>
          </p:cNvPr>
          <p:cNvSpPr txBox="1"/>
          <p:nvPr/>
        </p:nvSpPr>
        <p:spPr>
          <a:xfrm>
            <a:off x="236394" y="1025338"/>
            <a:ext cx="5972176" cy="5293757"/>
          </a:xfrm>
          <a:prstGeom prst="flowChartProcess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Kokila" panose="020B0604020202020204" pitchFamily="34" charset="0"/>
                <a:cs typeface="Kokila" panose="020B0604020202020204" pitchFamily="34" charset="0"/>
              </a:rPr>
              <a:t>Feasibility Metrics (Architectural &amp; Operational View)</a:t>
            </a:r>
          </a:p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sz="1600" b="1" dirty="0">
                <a:latin typeface="Kokila" panose="020B0604020202020204" pitchFamily="34" charset="0"/>
                <a:cs typeface="Kokila" panose="020B0604020202020204" pitchFamily="34" charset="0"/>
              </a:rPr>
              <a:t>Technical Feasibility</a:t>
            </a:r>
            <a:endParaRPr lang="en-IN" sz="1600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Uses lightweight permissioned blockchain (no heavy gas fees).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Real-time document hashing works on existing police cloud servers.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Offline mode (SQLite/</a:t>
            </a:r>
            <a:r>
              <a:rPr lang="en-IN" sz="1600" dirty="0" err="1">
                <a:latin typeface="Kokila" panose="020B0604020202020204" pitchFamily="34" charset="0"/>
                <a:cs typeface="Kokila" panose="020B0604020202020204" pitchFamily="34" charset="0"/>
              </a:rPr>
              <a:t>PouchDB</a:t>
            </a: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) runs on low-end smartphones and tablets.</a:t>
            </a:r>
          </a:p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sz="1600" b="1" dirty="0">
                <a:latin typeface="Kokila" panose="020B0604020202020204" pitchFamily="34" charset="0"/>
                <a:cs typeface="Kokila" panose="020B0604020202020204" pitchFamily="34" charset="0"/>
              </a:rPr>
              <a:t>Operational Feasibility</a:t>
            </a:r>
            <a:endParaRPr lang="en-IN" sz="1600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Auto-sends locked charge sheets to e-Courts and e-Prisons via webhooks—no manual work.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Background OCR and AI read scanned documents automatically; officers don’t need to change their workflow.</a:t>
            </a:r>
          </a:p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sz="1600" b="1" dirty="0">
                <a:latin typeface="Kokila" panose="020B0604020202020204" pitchFamily="34" charset="0"/>
                <a:cs typeface="Kokila" panose="020B0604020202020204" pitchFamily="34" charset="0"/>
              </a:rPr>
              <a:t>Economic Feasibility</a:t>
            </a:r>
            <a:endParaRPr lang="en-IN" sz="1600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Works as a software layer on top of existing databases—no need for new servers.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Uses current police smartphones/tablets; no extra hardware cost.</a:t>
            </a:r>
          </a:p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sz="1600" b="1" dirty="0">
                <a:latin typeface="Kokila" panose="020B0604020202020204" pitchFamily="34" charset="0"/>
                <a:cs typeface="Kokila" panose="020B0604020202020204" pitchFamily="34" charset="0"/>
              </a:rPr>
              <a:t>Strategic Feasibility</a:t>
            </a:r>
            <a:endParaRPr lang="en-IN" sz="1600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Aligns with India’s national criminal justice digitization timelines.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Offline sync works even in remote areas with poor or no network.</a:t>
            </a:r>
          </a:p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sz="1600" b="1" dirty="0">
                <a:latin typeface="Kokila" panose="020B0604020202020204" pitchFamily="34" charset="0"/>
                <a:cs typeface="Kokila" panose="020B0604020202020204" pitchFamily="34" charset="0"/>
              </a:rPr>
              <a:t>User Feasibility</a:t>
            </a:r>
            <a:endParaRPr lang="en-IN" sz="1600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Simple, field-tested interface with one-tap actions.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Minimal training needed; reduces human error during high-pressure situations.</a:t>
            </a:r>
          </a:p>
          <a:p>
            <a:pPr algn="just"/>
            <a:endParaRPr lang="en-IN" sz="1400" dirty="0">
              <a:latin typeface="Kokila" panose="020B0604020202020204" pitchFamily="34" charset="0"/>
              <a:cs typeface="Kokila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09CED-B56C-A94E-7857-8597EE94C1DC}"/>
              </a:ext>
            </a:extLst>
          </p:cNvPr>
          <p:cNvSpPr txBox="1"/>
          <p:nvPr/>
        </p:nvSpPr>
        <p:spPr>
          <a:xfrm>
            <a:off x="6444964" y="1031609"/>
            <a:ext cx="5361204" cy="53553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Kokila" panose="020B0604020202020204" pitchFamily="34" charset="0"/>
                <a:cs typeface="Kokila" panose="020B0604020202020204" pitchFamily="34" charset="0"/>
              </a:rPr>
              <a:t>Viability Framework (Execution &amp; Strategic Outlook)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Kokila" panose="020B0604020202020204" pitchFamily="34" charset="0"/>
                <a:cs typeface="Kokila" panose="020B0604020202020204" pitchFamily="34" charset="0"/>
              </a:rPr>
              <a:t>Training Viability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Complex crypto operations are hidden from users.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Officers learn basic workflows quickly; no deep technical knowledge required.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Kokila" panose="020B0604020202020204" pitchFamily="34" charset="0"/>
                <a:cs typeface="Kokila" panose="020B0604020202020204" pitchFamily="34" charset="0"/>
              </a:rPr>
              <a:t>Field Viability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Works offline using local queues; syncs when network is back.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Fully functional during raids or in areas with no connectivity.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Kokila" panose="020B0604020202020204" pitchFamily="34" charset="0"/>
                <a:cs typeface="Kokila" panose="020B0604020202020204" pitchFamily="34" charset="0"/>
              </a:rPr>
              <a:t>Economic &amp; Administrative Viability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Automates citizen background checks and document requests.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Saves thousands of manual officer hours every year.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Kokila" panose="020B0604020202020204" pitchFamily="34" charset="0"/>
                <a:cs typeface="Kokila" panose="020B0604020202020204" pitchFamily="34" charset="0"/>
              </a:rPr>
              <a:t>Legal &amp; Statutory Viability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Fully compliant with BNSS (Bharatiya Nagarik Suraksha Sanhita) procedures.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Keeps original legal document formats intact for easy court admissibility.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Kokila" panose="020B0604020202020204" pitchFamily="34" charset="0"/>
                <a:cs typeface="Kokila" panose="020B0604020202020204" pitchFamily="34" charset="0"/>
              </a:rPr>
              <a:t>Technological &amp; User Viability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Microservice design allows easy updates and scaling.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Public ZKP-based tracker shows case progress without exposing sensitive investigation details.</a:t>
            </a:r>
          </a:p>
          <a:p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E94945DC-D642-BF2D-E42C-517CAA15B2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3" y="137946"/>
            <a:ext cx="1463040" cy="5859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50" b="1" dirty="0">
                <a:latin typeface="Arial" panose="020B0604020202020204" pitchFamily="34" charset="0"/>
                <a:cs typeface="Arial" panose="020B0604020202020204" pitchFamily="34" charset="0"/>
              </a:rPr>
              <a:t>StithPragya</a:t>
            </a:r>
            <a:endParaRPr lang="en-IN" sz="115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3C9282C6-09A3-94B3-F792-B9DC7BCE79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3" y="137946"/>
            <a:ext cx="1463040" cy="5859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50" b="1" dirty="0">
                <a:latin typeface="Arial" panose="020B0604020202020204" pitchFamily="34" charset="0"/>
                <a:cs typeface="Arial" panose="020B0604020202020204" pitchFamily="34" charset="0"/>
              </a:rPr>
              <a:t>StithPragya</a:t>
            </a:r>
            <a:endParaRPr lang="en-IN" sz="11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A7C06-2A83-A5F5-8CD8-68A141378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782058"/>
            <a:ext cx="4156194" cy="54361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D3F9AF-C148-B930-DFC2-18003D19EF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755" y="905379"/>
            <a:ext cx="6252683" cy="504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18826" y="1179789"/>
            <a:ext cx="10554346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Kokila" panose="020B0604020202020204" pitchFamily="34" charset="0"/>
                <a:cs typeface="Kokila" panose="020B0604020202020204" pitchFamily="34" charset="0"/>
              </a:rPr>
              <a:t>MHA ICJS Portal</a:t>
            </a:r>
            <a:b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</a:b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Explains how police, courts, forensics, prisons, and prosecution share digital case records across India.</a:t>
            </a:r>
            <a:b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</a:b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🔗 </a:t>
            </a: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  <a:hlinkClick r:id="rId3"/>
              </a:rPr>
              <a:t>https://www.mha.gov.in/en/commoncontent/icjsncrb-administration</a:t>
            </a:r>
            <a:endParaRPr lang="en-IN" sz="1600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Kokila" panose="020B0604020202020204" pitchFamily="34" charset="0"/>
                <a:cs typeface="Kokila" panose="020B0604020202020204" pitchFamily="34" charset="0"/>
              </a:rPr>
              <a:t>e-</a:t>
            </a:r>
            <a:r>
              <a:rPr lang="en-IN" sz="1600" b="1" dirty="0" err="1">
                <a:latin typeface="Kokila" panose="020B0604020202020204" pitchFamily="34" charset="0"/>
                <a:cs typeface="Kokila" panose="020B0604020202020204" pitchFamily="34" charset="0"/>
              </a:rPr>
              <a:t>Sakshya</a:t>
            </a:r>
            <a:r>
              <a:rPr lang="en-IN" sz="1600" b="1" dirty="0">
                <a:latin typeface="Kokila" panose="020B0604020202020204" pitchFamily="34" charset="0"/>
                <a:cs typeface="Kokila" panose="020B0604020202020204" pitchFamily="34" charset="0"/>
              </a:rPr>
              <a:t> Evidence Guidelines</a:t>
            </a:r>
            <a:b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</a:b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Official rules for capturing audio-video evidence at crime scenes using the mobile app.</a:t>
            </a:r>
            <a:b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</a:b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🔗 </a:t>
            </a: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  <a:hlinkClick r:id="rId4"/>
              </a:rPr>
              <a:t>https://www.pib.gov.in/PressReleasePage.aspx?PRID=2226442</a:t>
            </a:r>
            <a:endParaRPr lang="en-IN" sz="1600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 err="1">
                <a:latin typeface="Kokila" panose="020B0604020202020204" pitchFamily="34" charset="0"/>
                <a:cs typeface="Kokila" panose="020B0604020202020204" pitchFamily="34" charset="0"/>
              </a:rPr>
              <a:t>Vishvasya</a:t>
            </a:r>
            <a:r>
              <a:rPr lang="en-IN" sz="1600" b="1" dirty="0">
                <a:latin typeface="Kokila" panose="020B0604020202020204" pitchFamily="34" charset="0"/>
                <a:cs typeface="Kokila" panose="020B0604020202020204" pitchFamily="34" charset="0"/>
              </a:rPr>
              <a:t> National Blockchain</a:t>
            </a:r>
            <a:b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</a:b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Shows the government’s blockchain security framework for cross-department document validation.</a:t>
            </a:r>
            <a:b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</a:b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🔗 </a:t>
            </a: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  <a:hlinkClick r:id="rId5"/>
              </a:rPr>
              <a:t>https://www.pib.gov.in/PressReleasePage.aspx?PRID=2182023</a:t>
            </a:r>
            <a:endParaRPr lang="en-IN" sz="1600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Kokila" panose="020B0604020202020204" pitchFamily="34" charset="0"/>
                <a:cs typeface="Kokila" panose="020B0604020202020204" pitchFamily="34" charset="0"/>
              </a:rPr>
              <a:t>Judiciary Chain Manual</a:t>
            </a:r>
            <a:b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</a:b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Describes how courts cryptographically lock digital evidence using blockchain hashes.</a:t>
            </a:r>
            <a:b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</a:b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🔗 </a:t>
            </a: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  <a:hlinkClick r:id="rId6"/>
              </a:rPr>
              <a:t>https://blockchain.gov.in/Home/Product?product=JudiciaryChain</a:t>
            </a:r>
            <a:endParaRPr lang="en-IN" sz="1600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Kokila" panose="020B0604020202020204" pitchFamily="34" charset="0"/>
                <a:cs typeface="Kokila" panose="020B0604020202020204" pitchFamily="34" charset="0"/>
              </a:rPr>
              <a:t>CAG Report on Digital Policing</a:t>
            </a:r>
            <a:b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</a:b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Highlights gaps in CCTNS—data sync issues, timeline errors, and missing case records.</a:t>
            </a:r>
            <a:b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</a:b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🔗 </a:t>
            </a: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  <a:hlinkClick r:id="rId7"/>
              </a:rPr>
              <a:t>https://www.telegraphindia.com/india/cag-finds-major-loopholes-in-cctns-implementation-missing-child-complaints-unregistered-prnt/cid/2125056</a:t>
            </a:r>
            <a:endParaRPr lang="en-IN" sz="1600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Kokila" panose="020B0604020202020204" pitchFamily="34" charset="0"/>
                <a:cs typeface="Kokila" panose="020B0604020202020204" pitchFamily="34" charset="0"/>
              </a:rPr>
              <a:t>National Digital Justice Rollout</a:t>
            </a:r>
            <a:b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</a:b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Outlines India’s plan for fully digital case management across the criminal justice system.</a:t>
            </a:r>
            <a:b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</a:b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</a:rPr>
              <a:t>🔗 </a:t>
            </a:r>
            <a:r>
              <a:rPr lang="en-IN" sz="1600" dirty="0">
                <a:latin typeface="Kokila" panose="020B0604020202020204" pitchFamily="34" charset="0"/>
                <a:cs typeface="Kokila" panose="020B0604020202020204" pitchFamily="34" charset="0"/>
                <a:hlinkClick r:id="rId8"/>
              </a:rPr>
              <a:t>https://www.thehindu.com/news/national/criminal-justice-systems-digital-push-aims-for-a-full-roll-out-by-next-year/article71166359.ece</a:t>
            </a:r>
            <a:endParaRPr lang="en-IN" sz="1600" dirty="0">
              <a:latin typeface="Kokila" panose="020B0604020202020204" pitchFamily="34" charset="0"/>
              <a:cs typeface="Kokila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0A33B339-67B8-2479-7E68-30F3386393D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3" y="137946"/>
            <a:ext cx="1463040" cy="5859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50" b="1" dirty="0">
                <a:latin typeface="Arial" panose="020B0604020202020204" pitchFamily="34" charset="0"/>
                <a:cs typeface="Arial" panose="020B0604020202020204" pitchFamily="34" charset="0"/>
              </a:rPr>
              <a:t>StithPragya</a:t>
            </a:r>
            <a:endParaRPr lang="en-IN" sz="115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8322</TotalTime>
  <Words>974</Words>
  <Application>Microsoft Office PowerPoint</Application>
  <PresentationFormat>Widescreen</PresentationFormat>
  <Paragraphs>107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Kokila</vt:lpstr>
      <vt:lpstr>Times New Roman</vt:lpstr>
      <vt:lpstr>TradeGothic</vt:lpstr>
      <vt:lpstr>Wingdings</vt:lpstr>
      <vt:lpstr>Office Theme</vt:lpstr>
      <vt:lpstr>SMART INDIA HACKATHON 2026</vt:lpstr>
      <vt:lpstr>Secure Legal Vault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Alpit.S. Gadhave</cp:lastModifiedBy>
  <cp:revision>152</cp:revision>
  <dcterms:created xsi:type="dcterms:W3CDTF">2013-12-12T18:46:50Z</dcterms:created>
  <dcterms:modified xsi:type="dcterms:W3CDTF">2026-09-11T06:30:11Z</dcterms:modified>
  <cp:category/>
</cp:coreProperties>
</file>